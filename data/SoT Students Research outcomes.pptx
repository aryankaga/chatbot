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92" r:id="rId3"/>
    <p:sldId id="291" r:id="rId4"/>
    <p:sldId id="288" r:id="rId5"/>
    <p:sldId id="287" r:id="rId6"/>
    <p:sldId id="290" r:id="rId7"/>
    <p:sldId id="286" r:id="rId8"/>
    <p:sldId id="293" r:id="rId9"/>
    <p:sldId id="289" r:id="rId10"/>
    <p:sldId id="275" r:id="rId11"/>
  </p:sldIdLst>
  <p:sldSz cx="11430000" cy="7315200"/>
  <p:notesSz cx="6858000" cy="9144000"/>
  <p:custDataLst>
    <p:tags r:id="rId13"/>
  </p:custDataLst>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4" d="100"/>
          <a:sy n="64" d="100"/>
        </p:scale>
        <p:origin x="110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E2D644-4519-4B16-A3D1-DBE259764A90}" type="datetimeFigureOut">
              <a:rPr lang="en-US" smtClean="0"/>
              <a:t>4/11/2025</a:t>
            </a:fld>
            <a:endParaRPr lang="en-US"/>
          </a:p>
        </p:txBody>
      </p:sp>
      <p:sp>
        <p:nvSpPr>
          <p:cNvPr id="4" name="Slide Image Placeholder 3"/>
          <p:cNvSpPr>
            <a:spLocks noGrp="1" noRot="1" noChangeAspect="1"/>
          </p:cNvSpPr>
          <p:nvPr>
            <p:ph type="sldImg" idx="2"/>
          </p:nvPr>
        </p:nvSpPr>
        <p:spPr>
          <a:xfrm>
            <a:off x="1017588" y="1143000"/>
            <a:ext cx="48228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7B43D0-6A49-4E95-B51C-F76C5391A04F}" type="slidenum">
              <a:rPr lang="en-US" smtClean="0"/>
              <a:t>‹#›</a:t>
            </a:fld>
            <a:endParaRPr lang="en-US"/>
          </a:p>
        </p:txBody>
      </p:sp>
    </p:spTree>
    <p:extLst>
      <p:ext uri="{BB962C8B-B14F-4D97-AF65-F5344CB8AC3E}">
        <p14:creationId xmlns:p14="http://schemas.microsoft.com/office/powerpoint/2010/main" val="3535438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24268" y="3671446"/>
            <a:ext cx="0" cy="3391209"/>
          </a:xfrm>
          <a:prstGeom prst="line">
            <a:avLst/>
          </a:prstGeom>
          <a:ln w="47625" cap="rnd">
            <a:solidFill>
              <a:srgbClr val="737373"/>
            </a:solidFill>
            <a:prstDash val="solid"/>
            <a:headEnd type="none" w="sm" len="sm"/>
            <a:tailEnd type="none" w="sm" len="sm"/>
          </a:ln>
        </p:spPr>
        <p:txBody>
          <a:bodyPr/>
          <a:lstStyle/>
          <a:p>
            <a:endParaRPr lang="en-US"/>
          </a:p>
        </p:txBody>
      </p:sp>
      <p:sp>
        <p:nvSpPr>
          <p:cNvPr id="3" name="AutoShape 3"/>
          <p:cNvSpPr/>
          <p:nvPr/>
        </p:nvSpPr>
        <p:spPr>
          <a:xfrm flipV="1">
            <a:off x="724268" y="573810"/>
            <a:ext cx="0" cy="3700377"/>
          </a:xfrm>
          <a:prstGeom prst="line">
            <a:avLst/>
          </a:prstGeom>
          <a:ln w="47625" cap="rnd">
            <a:solidFill>
              <a:srgbClr val="F81452"/>
            </a:solidFill>
            <a:prstDash val="solid"/>
            <a:headEnd type="none" w="sm" len="sm"/>
            <a:tailEnd type="none" w="sm" len="sm"/>
          </a:ln>
        </p:spPr>
        <p:txBody>
          <a:bodyPr/>
          <a:lstStyle/>
          <a:p>
            <a:endParaRPr lang="en-US"/>
          </a:p>
        </p:txBody>
      </p:sp>
      <p:sp>
        <p:nvSpPr>
          <p:cNvPr id="4" name="AutoShape 4"/>
          <p:cNvSpPr/>
          <p:nvPr/>
        </p:nvSpPr>
        <p:spPr>
          <a:xfrm flipV="1">
            <a:off x="1056652" y="5923553"/>
            <a:ext cx="7711290" cy="3152"/>
          </a:xfrm>
          <a:prstGeom prst="line">
            <a:avLst/>
          </a:prstGeom>
          <a:ln w="19050" cap="rnd">
            <a:solidFill>
              <a:srgbClr val="FF5757"/>
            </a:solidFill>
            <a:prstDash val="solid"/>
            <a:headEnd type="none" w="sm" len="sm"/>
            <a:tailEnd type="none" w="sm" len="sm"/>
          </a:ln>
        </p:spPr>
        <p:txBody>
          <a:bodyPr/>
          <a:lstStyle/>
          <a:p>
            <a:endParaRPr lang="en-US"/>
          </a:p>
        </p:txBody>
      </p:sp>
      <p:grpSp>
        <p:nvGrpSpPr>
          <p:cNvPr id="5" name="Group 5"/>
          <p:cNvGrpSpPr/>
          <p:nvPr/>
        </p:nvGrpSpPr>
        <p:grpSpPr>
          <a:xfrm>
            <a:off x="1786443" y="5923553"/>
            <a:ext cx="1444595" cy="294352"/>
            <a:chOff x="0" y="0"/>
            <a:chExt cx="996703" cy="203089"/>
          </a:xfrm>
        </p:grpSpPr>
        <p:sp>
          <p:nvSpPr>
            <p:cNvPr id="6" name="Freeform 6"/>
            <p:cNvSpPr/>
            <p:nvPr/>
          </p:nvSpPr>
          <p:spPr>
            <a:xfrm>
              <a:off x="0" y="0"/>
              <a:ext cx="996703" cy="203089"/>
            </a:xfrm>
            <a:custGeom>
              <a:avLst/>
              <a:gdLst/>
              <a:ahLst/>
              <a:cxnLst/>
              <a:rect l="l" t="t" r="r" b="b"/>
              <a:pathLst>
                <a:path w="996703" h="203089">
                  <a:moveTo>
                    <a:pt x="0" y="0"/>
                  </a:moveTo>
                  <a:lnTo>
                    <a:pt x="996703" y="0"/>
                  </a:lnTo>
                  <a:lnTo>
                    <a:pt x="996703" y="203089"/>
                  </a:lnTo>
                  <a:lnTo>
                    <a:pt x="0" y="203089"/>
                  </a:lnTo>
                  <a:close/>
                </a:path>
              </a:pathLst>
            </a:custGeom>
            <a:solidFill>
              <a:srgbClr val="FFFFFF"/>
            </a:solidFill>
          </p:spPr>
          <p:txBody>
            <a:bodyPr/>
            <a:lstStyle/>
            <a:p>
              <a:endParaRPr lang="en-US"/>
            </a:p>
          </p:txBody>
        </p:sp>
      </p:grpSp>
      <p:sp>
        <p:nvSpPr>
          <p:cNvPr id="7" name="Freeform 7"/>
          <p:cNvSpPr/>
          <p:nvPr/>
        </p:nvSpPr>
        <p:spPr>
          <a:xfrm>
            <a:off x="9460603" y="-258489"/>
            <a:ext cx="1969397" cy="1969397"/>
          </a:xfrm>
          <a:custGeom>
            <a:avLst/>
            <a:gdLst/>
            <a:ahLst/>
            <a:cxnLst/>
            <a:rect l="l" t="t" r="r" b="b"/>
            <a:pathLst>
              <a:path w="1969397" h="1969397">
                <a:moveTo>
                  <a:pt x="0" y="0"/>
                </a:moveTo>
                <a:lnTo>
                  <a:pt x="1969397" y="0"/>
                </a:lnTo>
                <a:lnTo>
                  <a:pt x="1969397" y="1969397"/>
                </a:lnTo>
                <a:lnTo>
                  <a:pt x="0" y="1969397"/>
                </a:lnTo>
                <a:lnTo>
                  <a:pt x="0" y="0"/>
                </a:lnTo>
                <a:close/>
              </a:path>
            </a:pathLst>
          </a:custGeom>
          <a:blipFill>
            <a:blip r:embed="rId2"/>
            <a:stretch>
              <a:fillRect/>
            </a:stretch>
          </a:blipFill>
        </p:spPr>
        <p:txBody>
          <a:bodyPr/>
          <a:lstStyle/>
          <a:p>
            <a:endParaRPr lang="en-US"/>
          </a:p>
        </p:txBody>
      </p:sp>
      <p:sp>
        <p:nvSpPr>
          <p:cNvPr id="8" name="TextBox 8"/>
          <p:cNvSpPr txBox="1"/>
          <p:nvPr/>
        </p:nvSpPr>
        <p:spPr>
          <a:xfrm>
            <a:off x="1075264" y="3861437"/>
            <a:ext cx="6968814" cy="412750"/>
          </a:xfrm>
          <a:prstGeom prst="rect">
            <a:avLst/>
          </a:prstGeom>
        </p:spPr>
        <p:txBody>
          <a:bodyPr lIns="0" tIns="0" rIns="0" bIns="0" rtlCol="0" anchor="t">
            <a:spAutoFit/>
          </a:bodyPr>
          <a:lstStyle/>
          <a:p>
            <a:pPr algn="l">
              <a:lnSpc>
                <a:spcPts val="3499"/>
              </a:lnSpc>
            </a:pPr>
            <a:r>
              <a:rPr lang="en-US" sz="2499" b="1">
                <a:solidFill>
                  <a:srgbClr val="545454"/>
                </a:solidFill>
                <a:latin typeface="Montserrat Bold"/>
                <a:ea typeface="Montserrat Bold"/>
                <a:cs typeface="Montserrat Bold"/>
                <a:sym typeface="Montserrat Bold"/>
              </a:rPr>
              <a:t>FROM TELANGANA, FOR INDIA’S FUTURE</a:t>
            </a:r>
          </a:p>
        </p:txBody>
      </p:sp>
      <p:sp>
        <p:nvSpPr>
          <p:cNvPr id="10" name="TextBox 10"/>
          <p:cNvSpPr txBox="1"/>
          <p:nvPr/>
        </p:nvSpPr>
        <p:spPr>
          <a:xfrm>
            <a:off x="1075264" y="5986717"/>
            <a:ext cx="1621257" cy="182358"/>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T</a:t>
            </a:r>
            <a:r>
              <a:rPr lang="en-US" sz="1100">
                <a:solidFill>
                  <a:srgbClr val="212122"/>
                </a:solidFill>
                <a:latin typeface="Times New Roman"/>
                <a:ea typeface="Poppins"/>
                <a:cs typeface="Poppins"/>
                <a:sym typeface="Poppins"/>
              </a:rPr>
              <a:t>he Vision</a:t>
            </a:r>
            <a:endParaRPr lang="en-US" sz="1100">
              <a:solidFill>
                <a:srgbClr val="212122"/>
              </a:solidFill>
              <a:latin typeface="Times New Roman"/>
              <a:ea typeface="Poppins"/>
              <a:cs typeface="Poppins"/>
            </a:endParaRPr>
          </a:p>
        </p:txBody>
      </p:sp>
      <p:sp>
        <p:nvSpPr>
          <p:cNvPr id="11" name="TextBox 11"/>
          <p:cNvSpPr txBox="1"/>
          <p:nvPr/>
        </p:nvSpPr>
        <p:spPr>
          <a:xfrm>
            <a:off x="1075264" y="3062259"/>
            <a:ext cx="6838941" cy="793115"/>
          </a:xfrm>
          <a:prstGeom prst="rect">
            <a:avLst/>
          </a:prstGeom>
        </p:spPr>
        <p:txBody>
          <a:bodyPr lIns="0" tIns="0" rIns="0" bIns="0" rtlCol="0" anchor="t">
            <a:spAutoFit/>
          </a:bodyPr>
          <a:lstStyle/>
          <a:p>
            <a:pPr algn="l">
              <a:lnSpc>
                <a:spcPts val="6159"/>
              </a:lnSpc>
            </a:pPr>
            <a:r>
              <a:rPr lang="en-US" sz="4399" b="1">
                <a:solidFill>
                  <a:srgbClr val="212122"/>
                </a:solidFill>
                <a:latin typeface="Poppins Bold"/>
                <a:ea typeface="Poppins Bold"/>
                <a:cs typeface="Poppins Bold"/>
                <a:sym typeface="Poppins Bold"/>
              </a:rPr>
              <a:t>WOXSEN UNIVERSITY</a:t>
            </a:r>
          </a:p>
        </p:txBody>
      </p:sp>
      <p:sp>
        <p:nvSpPr>
          <p:cNvPr id="12" name="TextBox 12"/>
          <p:cNvSpPr txBox="1"/>
          <p:nvPr/>
        </p:nvSpPr>
        <p:spPr>
          <a:xfrm>
            <a:off x="2007910" y="5986717"/>
            <a:ext cx="1001661"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Infrastructure</a:t>
            </a:r>
          </a:p>
        </p:txBody>
      </p:sp>
      <p:sp>
        <p:nvSpPr>
          <p:cNvPr id="13" name="TextBox 13"/>
          <p:cNvSpPr txBox="1"/>
          <p:nvPr/>
        </p:nvSpPr>
        <p:spPr>
          <a:xfrm>
            <a:off x="3164952" y="5986717"/>
            <a:ext cx="1675497"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Disciplines &amp; Programs</a:t>
            </a:r>
          </a:p>
        </p:txBody>
      </p:sp>
      <p:sp>
        <p:nvSpPr>
          <p:cNvPr id="14" name="TextBox 14"/>
          <p:cNvSpPr txBox="1"/>
          <p:nvPr/>
        </p:nvSpPr>
        <p:spPr>
          <a:xfrm>
            <a:off x="4992849" y="5986717"/>
            <a:ext cx="573954"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Faculty</a:t>
            </a:r>
          </a:p>
        </p:txBody>
      </p:sp>
      <p:sp>
        <p:nvSpPr>
          <p:cNvPr id="15" name="TextBox 15"/>
          <p:cNvSpPr txBox="1"/>
          <p:nvPr/>
        </p:nvSpPr>
        <p:spPr>
          <a:xfrm>
            <a:off x="5715000" y="5986717"/>
            <a:ext cx="1465302"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Global Partnerships</a:t>
            </a:r>
          </a:p>
        </p:txBody>
      </p:sp>
      <p:sp>
        <p:nvSpPr>
          <p:cNvPr id="16" name="TextBox 16"/>
          <p:cNvSpPr txBox="1"/>
          <p:nvPr/>
        </p:nvSpPr>
        <p:spPr>
          <a:xfrm>
            <a:off x="7289222" y="5986717"/>
            <a:ext cx="1900107"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Accreditations &amp; Rankings</a:t>
            </a:r>
          </a:p>
        </p:txBody>
      </p:sp>
      <p:sp>
        <p:nvSpPr>
          <p:cNvPr id="17" name="TextBox 17"/>
          <p:cNvSpPr txBox="1"/>
          <p:nvPr/>
        </p:nvSpPr>
        <p:spPr>
          <a:xfrm>
            <a:off x="9298248" y="5986717"/>
            <a:ext cx="1147053" cy="200660"/>
          </a:xfrm>
          <a:prstGeom prst="rect">
            <a:avLst/>
          </a:prstGeom>
        </p:spPr>
        <p:txBody>
          <a:bodyPr lIns="0" tIns="0" rIns="0" bIns="0" rtlCol="0" anchor="t">
            <a:spAutoFit/>
          </a:bodyPr>
          <a:lstStyle/>
          <a:p>
            <a:pPr algn="l">
              <a:lnSpc>
                <a:spcPts val="1540"/>
              </a:lnSpc>
            </a:pPr>
            <a:r>
              <a:rPr lang="en-US" sz="1100">
                <a:solidFill>
                  <a:srgbClr val="212122"/>
                </a:solidFill>
                <a:latin typeface="Poppins"/>
                <a:ea typeface="Poppins"/>
                <a:cs typeface="Poppins"/>
                <a:sym typeface="Poppins"/>
              </a:rPr>
              <a:t>Social Impact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91F0F-4EAF-6711-10E6-2FBE323BEDB9}"/>
              </a:ext>
            </a:extLst>
          </p:cNvPr>
          <p:cNvSpPr>
            <a:spLocks noGrp="1"/>
          </p:cNvSpPr>
          <p:nvPr>
            <p:ph type="title"/>
          </p:nvPr>
        </p:nvSpPr>
        <p:spPr>
          <a:xfrm>
            <a:off x="457200" y="274638"/>
            <a:ext cx="10155836" cy="1143000"/>
          </a:xfrm>
        </p:spPr>
        <p:txBody>
          <a:bodyPr>
            <a:normAutofit fontScale="90000"/>
          </a:bodyPr>
          <a:lstStyle/>
          <a:p>
            <a:r>
              <a:rPr lang="en-IN" b="1" dirty="0"/>
              <a:t>Research Outcomes of B. Tech 3</a:t>
            </a:r>
            <a:r>
              <a:rPr lang="en-IN" b="1" baseline="30000" dirty="0"/>
              <a:t>rd</a:t>
            </a:r>
            <a:r>
              <a:rPr lang="en-IN" b="1" dirty="0"/>
              <a:t> and 4</a:t>
            </a:r>
            <a:r>
              <a:rPr lang="en-IN" b="1" baseline="30000" dirty="0"/>
              <a:t>th</a:t>
            </a:r>
            <a:r>
              <a:rPr lang="en-IN" b="1" dirty="0"/>
              <a:t> Year Students</a:t>
            </a:r>
          </a:p>
        </p:txBody>
      </p:sp>
      <p:graphicFrame>
        <p:nvGraphicFramePr>
          <p:cNvPr id="4" name="Content Placeholder 3">
            <a:extLst>
              <a:ext uri="{FF2B5EF4-FFF2-40B4-BE49-F238E27FC236}">
                <a16:creationId xmlns:a16="http://schemas.microsoft.com/office/drawing/2014/main" id="{33A661FC-C985-D20E-259C-1F41AD7645DA}"/>
              </a:ext>
            </a:extLst>
          </p:cNvPr>
          <p:cNvGraphicFramePr>
            <a:graphicFrameLocks noGrp="1"/>
          </p:cNvGraphicFramePr>
          <p:nvPr>
            <p:ph idx="1"/>
            <p:extLst>
              <p:ext uri="{D42A27DB-BD31-4B8C-83A1-F6EECF244321}">
                <p14:modId xmlns:p14="http://schemas.microsoft.com/office/powerpoint/2010/main" val="4157872692"/>
              </p:ext>
            </p:extLst>
          </p:nvPr>
        </p:nvGraphicFramePr>
        <p:xfrm>
          <a:off x="457200" y="1600200"/>
          <a:ext cx="10680492" cy="3070486"/>
        </p:xfrm>
        <a:graphic>
          <a:graphicData uri="http://schemas.openxmlformats.org/drawingml/2006/table">
            <a:tbl>
              <a:tblPr firstRow="1" bandRow="1"/>
              <a:tblGrid>
                <a:gridCol w="2670123">
                  <a:extLst>
                    <a:ext uri="{9D8B030D-6E8A-4147-A177-3AD203B41FA5}">
                      <a16:colId xmlns:a16="http://schemas.microsoft.com/office/drawing/2014/main" val="919884017"/>
                    </a:ext>
                  </a:extLst>
                </a:gridCol>
                <a:gridCol w="2670123">
                  <a:extLst>
                    <a:ext uri="{9D8B030D-6E8A-4147-A177-3AD203B41FA5}">
                      <a16:colId xmlns:a16="http://schemas.microsoft.com/office/drawing/2014/main" val="1671048591"/>
                    </a:ext>
                  </a:extLst>
                </a:gridCol>
                <a:gridCol w="2670123">
                  <a:extLst>
                    <a:ext uri="{9D8B030D-6E8A-4147-A177-3AD203B41FA5}">
                      <a16:colId xmlns:a16="http://schemas.microsoft.com/office/drawing/2014/main" val="2341356858"/>
                    </a:ext>
                  </a:extLst>
                </a:gridCol>
                <a:gridCol w="2670123">
                  <a:extLst>
                    <a:ext uri="{9D8B030D-6E8A-4147-A177-3AD203B41FA5}">
                      <a16:colId xmlns:a16="http://schemas.microsoft.com/office/drawing/2014/main" val="3843361303"/>
                    </a:ext>
                  </a:extLst>
                </a:gridCol>
              </a:tblGrid>
              <a:tr h="1535243">
                <a:tc>
                  <a:txBody>
                    <a:bodyPr/>
                    <a:lstStyle/>
                    <a:p>
                      <a:r>
                        <a:rPr lang="en-IN" sz="4000" b="1" dirty="0"/>
                        <a:t>Year</a:t>
                      </a:r>
                    </a:p>
                  </a:txBody>
                  <a:tcPr/>
                </a:tc>
                <a:tc>
                  <a:txBody>
                    <a:bodyPr/>
                    <a:lstStyle/>
                    <a:p>
                      <a:r>
                        <a:rPr lang="en-IN" sz="3200" b="1" dirty="0"/>
                        <a:t>Research Articles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200" b="1" dirty="0"/>
                        <a:t>Conference Papers</a:t>
                      </a:r>
                    </a:p>
                    <a:p>
                      <a:endParaRPr lang="en-IN" dirty="0"/>
                    </a:p>
                  </a:txBody>
                  <a:tcPr/>
                </a:tc>
                <a:tc>
                  <a:txBody>
                    <a:bodyPr/>
                    <a:lstStyle/>
                    <a:p>
                      <a:r>
                        <a:rPr lang="en-IN" sz="2800" b="1" dirty="0"/>
                        <a:t>Patents/Design Registration </a:t>
                      </a:r>
                    </a:p>
                  </a:txBody>
                  <a:tcPr/>
                </a:tc>
                <a:extLst>
                  <a:ext uri="{0D108BD9-81ED-4DB2-BD59-A6C34878D82A}">
                    <a16:rowId xmlns:a16="http://schemas.microsoft.com/office/drawing/2014/main" val="910330829"/>
                  </a:ext>
                </a:extLst>
              </a:tr>
              <a:tr h="1535243">
                <a:tc>
                  <a:txBody>
                    <a:bodyPr/>
                    <a:lstStyle/>
                    <a:p>
                      <a:r>
                        <a:rPr lang="en-IN" sz="3600" dirty="0"/>
                        <a:t>B. Tech 3</a:t>
                      </a:r>
                      <a:r>
                        <a:rPr lang="en-IN" sz="3600" baseline="30000" dirty="0"/>
                        <a:t>rd</a:t>
                      </a:r>
                      <a:r>
                        <a:rPr lang="en-IN" sz="3600" dirty="0"/>
                        <a:t> and 4</a:t>
                      </a:r>
                      <a:r>
                        <a:rPr lang="en-IN" sz="3600" baseline="30000" dirty="0"/>
                        <a:t>th</a:t>
                      </a:r>
                      <a:r>
                        <a:rPr lang="en-IN" sz="3600" dirty="0"/>
                        <a:t> Year </a:t>
                      </a:r>
                    </a:p>
                  </a:txBody>
                  <a:tcPr/>
                </a:tc>
                <a:tc>
                  <a:txBody>
                    <a:bodyPr/>
                    <a:lstStyle/>
                    <a:p>
                      <a:r>
                        <a:rPr lang="en-IN" sz="3600" dirty="0"/>
                        <a:t>2</a:t>
                      </a:r>
                    </a:p>
                  </a:txBody>
                  <a:tcPr/>
                </a:tc>
                <a:tc>
                  <a:txBody>
                    <a:bodyPr/>
                    <a:lstStyle/>
                    <a:p>
                      <a:r>
                        <a:rPr lang="en-IN" sz="36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t>3</a:t>
                      </a:r>
                    </a:p>
                    <a:p>
                      <a:endParaRPr lang="en-IN" sz="3600" dirty="0"/>
                    </a:p>
                  </a:txBody>
                  <a:tcPr/>
                </a:tc>
                <a:extLst>
                  <a:ext uri="{0D108BD9-81ED-4DB2-BD59-A6C34878D82A}">
                    <a16:rowId xmlns:a16="http://schemas.microsoft.com/office/drawing/2014/main" val="2947999482"/>
                  </a:ext>
                </a:extLst>
              </a:tr>
            </a:tbl>
          </a:graphicData>
        </a:graphic>
      </p:graphicFrame>
    </p:spTree>
    <p:extLst>
      <p:ext uri="{BB962C8B-B14F-4D97-AF65-F5344CB8AC3E}">
        <p14:creationId xmlns:p14="http://schemas.microsoft.com/office/powerpoint/2010/main" val="3193585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79E61-58FF-27A6-91BB-C88AB30E9C2B}"/>
              </a:ext>
            </a:extLst>
          </p:cNvPr>
          <p:cNvSpPr>
            <a:spLocks noGrp="1"/>
          </p:cNvSpPr>
          <p:nvPr>
            <p:ph type="title"/>
          </p:nvPr>
        </p:nvSpPr>
        <p:spPr>
          <a:xfrm>
            <a:off x="457200" y="274638"/>
            <a:ext cx="10665502" cy="1143000"/>
          </a:xfrm>
        </p:spPr>
        <p:txBody>
          <a:bodyPr>
            <a:noAutofit/>
          </a:bodyPr>
          <a:lstStyle/>
          <a:p>
            <a:r>
              <a:rPr lang="en-IN" sz="3200" b="1" dirty="0"/>
              <a:t>Research Article Published – B. Tech 4</a:t>
            </a:r>
            <a:r>
              <a:rPr lang="en-IN" sz="3200" b="1" baseline="30000" dirty="0"/>
              <a:t>th</a:t>
            </a:r>
            <a:r>
              <a:rPr lang="en-IN" sz="3200" b="1" dirty="0"/>
              <a:t> year students</a:t>
            </a:r>
          </a:p>
        </p:txBody>
      </p:sp>
      <p:pic>
        <p:nvPicPr>
          <p:cNvPr id="5" name="Content Placeholder 4">
            <a:extLst>
              <a:ext uri="{FF2B5EF4-FFF2-40B4-BE49-F238E27FC236}">
                <a16:creationId xmlns:a16="http://schemas.microsoft.com/office/drawing/2014/main" id="{9ABA4AF8-24E6-4F04-EC7F-A79430453DFA}"/>
              </a:ext>
            </a:extLst>
          </p:cNvPr>
          <p:cNvPicPr>
            <a:picLocks noGrp="1" noChangeAspect="1"/>
          </p:cNvPicPr>
          <p:nvPr>
            <p:ph idx="1"/>
          </p:nvPr>
        </p:nvPicPr>
        <p:blipFill>
          <a:blip r:embed="rId2"/>
          <a:stretch>
            <a:fillRect/>
          </a:stretch>
        </p:blipFill>
        <p:spPr>
          <a:xfrm>
            <a:off x="457200" y="1417639"/>
            <a:ext cx="10665502" cy="5897562"/>
          </a:xfrm>
        </p:spPr>
      </p:pic>
    </p:spTree>
    <p:extLst>
      <p:ext uri="{BB962C8B-B14F-4D97-AF65-F5344CB8AC3E}">
        <p14:creationId xmlns:p14="http://schemas.microsoft.com/office/powerpoint/2010/main" val="891860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5100B-BFAF-8428-49E1-B3B296054D39}"/>
              </a:ext>
            </a:extLst>
          </p:cNvPr>
          <p:cNvSpPr>
            <a:spLocks noGrp="1"/>
          </p:cNvSpPr>
          <p:nvPr>
            <p:ph type="title"/>
          </p:nvPr>
        </p:nvSpPr>
        <p:spPr>
          <a:xfrm>
            <a:off x="457200" y="39857"/>
            <a:ext cx="10770432" cy="1560343"/>
          </a:xfrm>
        </p:spPr>
        <p:txBody>
          <a:bodyPr>
            <a:noAutofit/>
          </a:bodyPr>
          <a:lstStyle/>
          <a:p>
            <a:r>
              <a:rPr lang="en-US" sz="2400" b="1" i="0" dirty="0">
                <a:effectLst/>
              </a:rPr>
              <a:t>Research Article with </a:t>
            </a:r>
            <a:r>
              <a:rPr lang="en-US" sz="2400" b="1" i="0" dirty="0" err="1">
                <a:effectLst/>
              </a:rPr>
              <a:t>B.Tech</a:t>
            </a:r>
            <a:r>
              <a:rPr lang="en-US" sz="2400" b="1" i="0" dirty="0">
                <a:effectLst/>
              </a:rPr>
              <a:t> 4</a:t>
            </a:r>
            <a:r>
              <a:rPr lang="en-US" sz="2400" b="1" i="0" baseline="30000" dirty="0">
                <a:effectLst/>
              </a:rPr>
              <a:t>th</a:t>
            </a:r>
            <a:r>
              <a:rPr lang="en-US" sz="2400" b="1" i="0" dirty="0">
                <a:effectLst/>
              </a:rPr>
              <a:t> year and 3</a:t>
            </a:r>
            <a:r>
              <a:rPr lang="en-US" sz="2400" b="1" i="0" baseline="30000" dirty="0">
                <a:effectLst/>
              </a:rPr>
              <a:t>rd</a:t>
            </a:r>
            <a:r>
              <a:rPr lang="en-US" sz="2400" b="1" i="0" dirty="0">
                <a:effectLst/>
              </a:rPr>
              <a:t> year </a:t>
            </a:r>
            <a:r>
              <a:rPr lang="en-US" sz="2400" b="1" i="0" dirty="0" err="1">
                <a:effectLst/>
              </a:rPr>
              <a:t>year</a:t>
            </a:r>
            <a:r>
              <a:rPr lang="en-US" sz="2400" b="1" i="0" dirty="0">
                <a:effectLst/>
              </a:rPr>
              <a:t> student</a:t>
            </a:r>
            <a:br>
              <a:rPr lang="en-US" sz="2400" b="0" i="0" dirty="0">
                <a:effectLst/>
              </a:rPr>
            </a:br>
            <a:r>
              <a:rPr lang="en-US" sz="2400" b="0" i="0" dirty="0">
                <a:effectLst/>
              </a:rPr>
              <a:t>“Adaptive Intelligence in Warehouse Robotics: Efficient Pick-and-Place Robot for Dynamic Environments” has been officially published in the Journal of Electrical Systems (Indexed in SCOPUS | Impact Factor: 0.5)!</a:t>
            </a:r>
            <a:endParaRPr lang="en-IN" sz="2400" dirty="0"/>
          </a:p>
        </p:txBody>
      </p:sp>
      <p:pic>
        <p:nvPicPr>
          <p:cNvPr id="3074" name="Picture 2" descr="graphical user interface, application">
            <a:extLst>
              <a:ext uri="{FF2B5EF4-FFF2-40B4-BE49-F238E27FC236}">
                <a16:creationId xmlns:a16="http://schemas.microsoft.com/office/drawing/2014/main" id="{40CCAE56-FBBC-733F-D07D-F708D0574D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8976" y="1600200"/>
            <a:ext cx="8574375" cy="5675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259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919A-31F7-B5A9-FE50-E4707B556CE1}"/>
              </a:ext>
            </a:extLst>
          </p:cNvPr>
          <p:cNvSpPr>
            <a:spLocks noGrp="1"/>
          </p:cNvSpPr>
          <p:nvPr>
            <p:ph type="title"/>
          </p:nvPr>
        </p:nvSpPr>
        <p:spPr>
          <a:xfrm>
            <a:off x="457199" y="0"/>
            <a:ext cx="10650511" cy="1903751"/>
          </a:xfrm>
        </p:spPr>
        <p:txBody>
          <a:bodyPr>
            <a:noAutofit/>
          </a:bodyPr>
          <a:lstStyle/>
          <a:p>
            <a:r>
              <a:rPr lang="en-IN" sz="2000" b="1" i="0" dirty="0">
                <a:solidFill>
                  <a:srgbClr val="333333"/>
                </a:solidFill>
                <a:effectLst/>
                <a:latin typeface="+mn-lt"/>
              </a:rPr>
              <a:t>Conference Paper Published – B. Tech 4</a:t>
            </a:r>
            <a:r>
              <a:rPr lang="en-IN" sz="2000" b="1" i="0" baseline="30000" dirty="0">
                <a:solidFill>
                  <a:srgbClr val="333333"/>
                </a:solidFill>
                <a:effectLst/>
                <a:latin typeface="+mn-lt"/>
              </a:rPr>
              <a:t>th</a:t>
            </a:r>
            <a:r>
              <a:rPr lang="en-IN" sz="2000" b="1" i="0" dirty="0">
                <a:solidFill>
                  <a:srgbClr val="333333"/>
                </a:solidFill>
                <a:effectLst/>
                <a:latin typeface="+mn-lt"/>
              </a:rPr>
              <a:t> year Students</a:t>
            </a:r>
            <a:br>
              <a:rPr lang="en-IN" sz="2000" b="0" i="0" dirty="0">
                <a:solidFill>
                  <a:srgbClr val="333333"/>
                </a:solidFill>
                <a:effectLst/>
                <a:latin typeface="+mn-lt"/>
              </a:rPr>
            </a:br>
            <a:r>
              <a:rPr lang="en-IN" sz="2000" b="0" i="0" dirty="0">
                <a:solidFill>
                  <a:srgbClr val="333333"/>
                </a:solidFill>
                <a:effectLst/>
                <a:latin typeface="+mn-lt"/>
              </a:rPr>
              <a:t>B. Prajwal Pathri, V. S. H. Borra, K. V. </a:t>
            </a:r>
            <a:r>
              <a:rPr lang="en-IN" sz="2000" b="0" i="0" dirty="0" err="1">
                <a:solidFill>
                  <a:srgbClr val="333333"/>
                </a:solidFill>
                <a:effectLst/>
                <a:latin typeface="+mn-lt"/>
              </a:rPr>
              <a:t>Ganduri</a:t>
            </a:r>
            <a:r>
              <a:rPr lang="en-IN" sz="2000" b="0" i="0" dirty="0">
                <a:solidFill>
                  <a:srgbClr val="333333"/>
                </a:solidFill>
                <a:effectLst/>
                <a:latin typeface="+mn-lt"/>
              </a:rPr>
              <a:t>, J. M. C. K. Reddy, M. R. </a:t>
            </a:r>
            <a:r>
              <a:rPr lang="en-IN" sz="2000" b="0" i="0" dirty="0" err="1">
                <a:solidFill>
                  <a:srgbClr val="333333"/>
                </a:solidFill>
                <a:effectLst/>
                <a:latin typeface="+mn-lt"/>
              </a:rPr>
              <a:t>Kantipudi</a:t>
            </a:r>
            <a:r>
              <a:rPr lang="en-IN" sz="2000" b="0" i="0" dirty="0">
                <a:solidFill>
                  <a:srgbClr val="333333"/>
                </a:solidFill>
                <a:effectLst/>
                <a:latin typeface="+mn-lt"/>
              </a:rPr>
              <a:t> and M. R. </a:t>
            </a:r>
            <a:r>
              <a:rPr lang="en-IN" sz="2000" b="0" i="0" dirty="0" err="1">
                <a:solidFill>
                  <a:srgbClr val="333333"/>
                </a:solidFill>
                <a:effectLst/>
                <a:latin typeface="+mn-lt"/>
              </a:rPr>
              <a:t>Jupalle</a:t>
            </a:r>
            <a:r>
              <a:rPr lang="en-IN" sz="2000" b="0" i="0" dirty="0">
                <a:solidFill>
                  <a:srgbClr val="333333"/>
                </a:solidFill>
                <a:effectLst/>
                <a:latin typeface="+mn-lt"/>
              </a:rPr>
              <a:t>, "Smart Hostel Management Through the IoT: Reducing Energy Consumption, Securing Access, and Preventing Theft," </a:t>
            </a:r>
            <a:r>
              <a:rPr lang="en-IN" sz="2000" b="0" i="1" dirty="0">
                <a:solidFill>
                  <a:srgbClr val="333333"/>
                </a:solidFill>
                <a:effectLst/>
                <a:latin typeface="+mn-lt"/>
              </a:rPr>
              <a:t>2024 3rd International Conference on Automation, Computing and Renewable Systems (ICACRS)</a:t>
            </a:r>
            <a:r>
              <a:rPr lang="en-IN" sz="2000" b="0" i="0" dirty="0">
                <a:solidFill>
                  <a:srgbClr val="333333"/>
                </a:solidFill>
                <a:effectLst/>
                <a:latin typeface="+mn-lt"/>
              </a:rPr>
              <a:t>, Pudukkottai, India, 2024, pp. 483-489, </a:t>
            </a:r>
            <a:r>
              <a:rPr lang="en-IN" sz="2000" b="0" i="0" dirty="0" err="1">
                <a:solidFill>
                  <a:srgbClr val="333333"/>
                </a:solidFill>
                <a:effectLst/>
                <a:latin typeface="+mn-lt"/>
              </a:rPr>
              <a:t>doi</a:t>
            </a:r>
            <a:r>
              <a:rPr lang="en-IN" sz="2000" b="0" i="0" dirty="0">
                <a:solidFill>
                  <a:srgbClr val="333333"/>
                </a:solidFill>
                <a:effectLst/>
                <a:latin typeface="+mn-lt"/>
              </a:rPr>
              <a:t>: 10.1109/ICACRS62842.2024.10841498.</a:t>
            </a:r>
            <a:endParaRPr lang="en-IN" sz="2000" dirty="0">
              <a:latin typeface="+mn-lt"/>
            </a:endParaRPr>
          </a:p>
        </p:txBody>
      </p:sp>
      <p:pic>
        <p:nvPicPr>
          <p:cNvPr id="5" name="Content Placeholder 4">
            <a:extLst>
              <a:ext uri="{FF2B5EF4-FFF2-40B4-BE49-F238E27FC236}">
                <a16:creationId xmlns:a16="http://schemas.microsoft.com/office/drawing/2014/main" id="{942022A4-3DD8-2E1B-5960-32F8B7BC2BDC}"/>
              </a:ext>
            </a:extLst>
          </p:cNvPr>
          <p:cNvPicPr>
            <a:picLocks noGrp="1" noChangeAspect="1"/>
          </p:cNvPicPr>
          <p:nvPr>
            <p:ph idx="1"/>
          </p:nvPr>
        </p:nvPicPr>
        <p:blipFill>
          <a:blip r:embed="rId2"/>
          <a:stretch>
            <a:fillRect/>
          </a:stretch>
        </p:blipFill>
        <p:spPr>
          <a:xfrm>
            <a:off x="457199" y="2008682"/>
            <a:ext cx="10650512" cy="5002433"/>
          </a:xfrm>
        </p:spPr>
      </p:pic>
    </p:spTree>
    <p:extLst>
      <p:ext uri="{BB962C8B-B14F-4D97-AF65-F5344CB8AC3E}">
        <p14:creationId xmlns:p14="http://schemas.microsoft.com/office/powerpoint/2010/main" val="3547100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E1F5D-7629-3294-DA65-743852820EDB}"/>
              </a:ext>
            </a:extLst>
          </p:cNvPr>
          <p:cNvSpPr>
            <a:spLocks noGrp="1"/>
          </p:cNvSpPr>
          <p:nvPr>
            <p:ph type="title"/>
          </p:nvPr>
        </p:nvSpPr>
        <p:spPr>
          <a:xfrm>
            <a:off x="457199" y="274638"/>
            <a:ext cx="10777929" cy="1599132"/>
          </a:xfrm>
        </p:spPr>
        <p:txBody>
          <a:bodyPr>
            <a:noAutofit/>
          </a:bodyPr>
          <a:lstStyle/>
          <a:p>
            <a:r>
              <a:rPr lang="en-IN" sz="2000" b="1" i="0" dirty="0">
                <a:solidFill>
                  <a:srgbClr val="333333"/>
                </a:solidFill>
                <a:effectLst/>
                <a:latin typeface="+mn-lt"/>
              </a:rPr>
              <a:t>Conference Paper Published – B. Tech 4</a:t>
            </a:r>
            <a:r>
              <a:rPr lang="en-IN" sz="2000" b="1" i="0" baseline="30000" dirty="0">
                <a:solidFill>
                  <a:srgbClr val="333333"/>
                </a:solidFill>
                <a:effectLst/>
                <a:latin typeface="+mn-lt"/>
              </a:rPr>
              <a:t>th</a:t>
            </a:r>
            <a:r>
              <a:rPr lang="en-IN" sz="2000" b="1" i="0" dirty="0">
                <a:solidFill>
                  <a:srgbClr val="333333"/>
                </a:solidFill>
                <a:effectLst/>
                <a:latin typeface="+mn-lt"/>
              </a:rPr>
              <a:t> year Students - </a:t>
            </a:r>
            <a:r>
              <a:rPr lang="en-IN" sz="2000" b="0" i="0" dirty="0">
                <a:solidFill>
                  <a:srgbClr val="333333"/>
                </a:solidFill>
                <a:effectLst/>
                <a:latin typeface="+mn-lt"/>
              </a:rPr>
              <a:t>H. V. Upadrasta, N. R. </a:t>
            </a:r>
            <a:r>
              <a:rPr lang="en-IN" sz="2000" b="0" i="0" dirty="0" err="1">
                <a:solidFill>
                  <a:srgbClr val="333333"/>
                </a:solidFill>
                <a:effectLst/>
                <a:latin typeface="+mn-lt"/>
              </a:rPr>
              <a:t>Porla</a:t>
            </a:r>
            <a:r>
              <a:rPr lang="en-IN" sz="2000" b="0" i="0" dirty="0">
                <a:solidFill>
                  <a:srgbClr val="333333"/>
                </a:solidFill>
                <a:effectLst/>
                <a:latin typeface="+mn-lt"/>
              </a:rPr>
              <a:t>, M. K. Reddy and P. Kumar, "Deep Plant: Detecting Plant Diseases and Recommending Remedies with Deep Learning," </a:t>
            </a:r>
            <a:r>
              <a:rPr lang="en-IN" sz="2000" b="0" i="1" dirty="0">
                <a:solidFill>
                  <a:srgbClr val="333333"/>
                </a:solidFill>
                <a:effectLst/>
                <a:latin typeface="+mn-lt"/>
              </a:rPr>
              <a:t>2024 International Conference on Artificial Intelligence and Emerging Technology (Global AI Summit)</a:t>
            </a:r>
            <a:r>
              <a:rPr lang="en-IN" sz="2000" b="0" i="0" dirty="0">
                <a:solidFill>
                  <a:srgbClr val="333333"/>
                </a:solidFill>
                <a:effectLst/>
                <a:latin typeface="+mn-lt"/>
              </a:rPr>
              <a:t>, Greater Noida, India, 2024, pp. 1071-1076</a:t>
            </a:r>
            <a:endParaRPr lang="en-IN" sz="2000" dirty="0">
              <a:latin typeface="+mn-lt"/>
            </a:endParaRPr>
          </a:p>
        </p:txBody>
      </p:sp>
      <p:pic>
        <p:nvPicPr>
          <p:cNvPr id="5" name="Content Placeholder 4">
            <a:extLst>
              <a:ext uri="{FF2B5EF4-FFF2-40B4-BE49-F238E27FC236}">
                <a16:creationId xmlns:a16="http://schemas.microsoft.com/office/drawing/2014/main" id="{F45DFD5C-4CC4-64BC-E561-FF1DE7EE6DCF}"/>
              </a:ext>
            </a:extLst>
          </p:cNvPr>
          <p:cNvPicPr>
            <a:picLocks noGrp="1" noChangeAspect="1"/>
          </p:cNvPicPr>
          <p:nvPr>
            <p:ph idx="1"/>
          </p:nvPr>
        </p:nvPicPr>
        <p:blipFill>
          <a:blip r:embed="rId2"/>
          <a:stretch>
            <a:fillRect/>
          </a:stretch>
        </p:blipFill>
        <p:spPr>
          <a:xfrm>
            <a:off x="194871" y="1873770"/>
            <a:ext cx="11040257" cy="5441430"/>
          </a:xfrm>
        </p:spPr>
      </p:pic>
    </p:spTree>
    <p:extLst>
      <p:ext uri="{BB962C8B-B14F-4D97-AF65-F5344CB8AC3E}">
        <p14:creationId xmlns:p14="http://schemas.microsoft.com/office/powerpoint/2010/main" val="402042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4DF9-9AE7-AEFA-ACAF-B2043E5FC2E6}"/>
              </a:ext>
            </a:extLst>
          </p:cNvPr>
          <p:cNvSpPr>
            <a:spLocks noGrp="1"/>
          </p:cNvSpPr>
          <p:nvPr>
            <p:ph type="title"/>
          </p:nvPr>
        </p:nvSpPr>
        <p:spPr>
          <a:xfrm>
            <a:off x="457199" y="329784"/>
            <a:ext cx="10940798" cy="1873769"/>
          </a:xfrm>
        </p:spPr>
        <p:txBody>
          <a:bodyPr>
            <a:normAutofit fontScale="90000"/>
          </a:bodyPr>
          <a:lstStyle/>
          <a:p>
            <a:r>
              <a:rPr lang="en-IN" sz="3600" b="1" dirty="0"/>
              <a:t>Patent Published – 3</a:t>
            </a:r>
            <a:r>
              <a:rPr lang="en-IN" sz="3600" b="1" baseline="30000" dirty="0"/>
              <a:t>rd</a:t>
            </a:r>
            <a:r>
              <a:rPr lang="en-IN" sz="3600" b="1" dirty="0"/>
              <a:t> and 4</a:t>
            </a:r>
            <a:r>
              <a:rPr lang="en-IN" sz="3600" b="1" baseline="30000" dirty="0"/>
              <a:t>th</a:t>
            </a:r>
            <a:r>
              <a:rPr lang="en-IN" sz="3600" b="1" dirty="0"/>
              <a:t> Year B. Tech students.</a:t>
            </a:r>
            <a:br>
              <a:rPr lang="en-IN" sz="3600" dirty="0"/>
            </a:br>
            <a:r>
              <a:rPr lang="en-IN" sz="3600" dirty="0"/>
              <a:t>Title: Enhanced Fire Fighting Drone with Thermal Imaging and First Aid Deployment – Application No</a:t>
            </a:r>
            <a:r>
              <a:rPr lang="en-IN" dirty="0"/>
              <a:t>. </a:t>
            </a:r>
            <a:r>
              <a:rPr lang="en-IN" sz="3600" dirty="0"/>
              <a:t>202541019069</a:t>
            </a:r>
            <a:endParaRPr lang="en-IN" dirty="0"/>
          </a:p>
        </p:txBody>
      </p:sp>
      <p:pic>
        <p:nvPicPr>
          <p:cNvPr id="2050" name="Picture 2" descr="No alternative text description for this image">
            <a:extLst>
              <a:ext uri="{FF2B5EF4-FFF2-40B4-BE49-F238E27FC236}">
                <a16:creationId xmlns:a16="http://schemas.microsoft.com/office/drawing/2014/main" id="{4D751E0B-B115-DE7E-E41C-7001477CD9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6816" y="1963710"/>
            <a:ext cx="11113184" cy="5006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52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91D4D-05FB-E3D8-4938-F7A8B9F0A246}"/>
              </a:ext>
            </a:extLst>
          </p:cNvPr>
          <p:cNvSpPr>
            <a:spLocks noGrp="1"/>
          </p:cNvSpPr>
          <p:nvPr>
            <p:ph type="title"/>
          </p:nvPr>
        </p:nvSpPr>
        <p:spPr>
          <a:xfrm>
            <a:off x="457199" y="539645"/>
            <a:ext cx="9826053" cy="1004341"/>
          </a:xfrm>
        </p:spPr>
        <p:txBody>
          <a:bodyPr>
            <a:normAutofit fontScale="90000"/>
          </a:bodyPr>
          <a:lstStyle/>
          <a:p>
            <a:r>
              <a:rPr lang="en-IN" sz="3100" b="1" i="0" u="none" strike="noStrike" dirty="0">
                <a:solidFill>
                  <a:schemeClr val="tx1"/>
                </a:solidFill>
                <a:effectLst/>
                <a:latin typeface="Times New Roman" panose="02020603050405020304" pitchFamily="18" charset="0"/>
                <a:cs typeface="Times New Roman" panose="02020603050405020304" pitchFamily="18" charset="0"/>
              </a:rPr>
              <a:t>B. Tech 3</a:t>
            </a:r>
            <a:r>
              <a:rPr lang="en-IN" sz="3100" b="1" i="0" u="none" strike="noStrike" baseline="30000" dirty="0">
                <a:solidFill>
                  <a:schemeClr val="tx1"/>
                </a:solidFill>
                <a:effectLst/>
                <a:latin typeface="Times New Roman" panose="02020603050405020304" pitchFamily="18" charset="0"/>
                <a:cs typeface="Times New Roman" panose="02020603050405020304" pitchFamily="18" charset="0"/>
              </a:rPr>
              <a:t>rd</a:t>
            </a:r>
            <a:r>
              <a:rPr lang="en-IN" sz="3100" b="1" i="0" u="none" strike="noStrike" dirty="0">
                <a:solidFill>
                  <a:schemeClr val="tx1"/>
                </a:solidFill>
                <a:effectLst/>
                <a:latin typeface="Times New Roman" panose="02020603050405020304" pitchFamily="18" charset="0"/>
                <a:cs typeface="Times New Roman" panose="02020603050405020304" pitchFamily="18" charset="0"/>
              </a:rPr>
              <a:t> Year Students</a:t>
            </a:r>
            <a:br>
              <a:rPr lang="en-IN" sz="3100" b="1" i="0" u="none" strike="noStrike" dirty="0">
                <a:solidFill>
                  <a:schemeClr val="tx1"/>
                </a:solidFill>
                <a:effectLst/>
                <a:latin typeface="Times New Roman" panose="02020603050405020304" pitchFamily="18" charset="0"/>
                <a:cs typeface="Times New Roman" panose="02020603050405020304" pitchFamily="18" charset="0"/>
              </a:rPr>
            </a:br>
            <a:r>
              <a:rPr lang="en-IN" sz="3100" b="1" i="0" u="none" strike="noStrike" dirty="0">
                <a:solidFill>
                  <a:schemeClr val="tx1"/>
                </a:solidFill>
                <a:effectLst/>
                <a:latin typeface="Times New Roman" panose="02020603050405020304" pitchFamily="18" charset="0"/>
                <a:cs typeface="Times New Roman" panose="02020603050405020304" pitchFamily="18" charset="0"/>
              </a:rPr>
              <a:t>Design Registration: Sun-tracking solar panel system</a:t>
            </a:r>
            <a:br>
              <a:rPr lang="en-IN" sz="4400" b="0" i="0" u="none" strike="noStrike" dirty="0">
                <a:solidFill>
                  <a:schemeClr val="tx1"/>
                </a:solidFill>
                <a:effectLst/>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AB1B8EC1-921F-DADA-3133-7446C2E11B5B}"/>
              </a:ext>
            </a:extLst>
          </p:cNvPr>
          <p:cNvPicPr>
            <a:picLocks noGrp="1" noChangeAspect="1"/>
          </p:cNvPicPr>
          <p:nvPr>
            <p:ph idx="1"/>
          </p:nvPr>
        </p:nvPicPr>
        <p:blipFill>
          <a:blip r:embed="rId2"/>
          <a:stretch>
            <a:fillRect/>
          </a:stretch>
        </p:blipFill>
        <p:spPr>
          <a:xfrm>
            <a:off x="2930440" y="1289154"/>
            <a:ext cx="5219461" cy="5942387"/>
          </a:xfrm>
        </p:spPr>
      </p:pic>
    </p:spTree>
    <p:extLst>
      <p:ext uri="{BB962C8B-B14F-4D97-AF65-F5344CB8AC3E}">
        <p14:creationId xmlns:p14="http://schemas.microsoft.com/office/powerpoint/2010/main" val="2121201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2" name="Rectangle 412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14300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24" name="Arc 412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7898920" y="716161"/>
            <a:ext cx="3187092" cy="2801155"/>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126" name="Freeform: Shape 412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52160"/>
            <a:ext cx="2505809" cy="146304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text">
            <a:extLst>
              <a:ext uri="{FF2B5EF4-FFF2-40B4-BE49-F238E27FC236}">
                <a16:creationId xmlns:a16="http://schemas.microsoft.com/office/drawing/2014/main" id="{A9A34A8A-26BC-5E83-3AC7-D61A219E948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0784" y="545379"/>
            <a:ext cx="4275692" cy="6043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4119" name="Content Placeholder 4118">
            <a:extLst>
              <a:ext uri="{FF2B5EF4-FFF2-40B4-BE49-F238E27FC236}">
                <a16:creationId xmlns:a16="http://schemas.microsoft.com/office/drawing/2014/main" id="{78A2901F-A5C8-B477-3F99-B1815F3D8E29}"/>
              </a:ext>
            </a:extLst>
          </p:cNvPr>
          <p:cNvSpPr>
            <a:spLocks noGrp="1"/>
          </p:cNvSpPr>
          <p:nvPr>
            <p:ph idx="1"/>
          </p:nvPr>
        </p:nvSpPr>
        <p:spPr>
          <a:xfrm>
            <a:off x="5526526" y="1879601"/>
            <a:ext cx="5551205" cy="4709160"/>
          </a:xfrm>
        </p:spPr>
        <p:txBody>
          <a:bodyPr>
            <a:normAutofit/>
          </a:bodyPr>
          <a:lstStyle/>
          <a:p>
            <a:r>
              <a:rPr lang="en-US" b="1" dirty="0"/>
              <a:t>Patent Published – </a:t>
            </a:r>
            <a:r>
              <a:rPr lang="en-US" b="1" dirty="0" err="1"/>
              <a:t>B.Tech</a:t>
            </a:r>
            <a:r>
              <a:rPr lang="en-US" b="1" dirty="0"/>
              <a:t> 4</a:t>
            </a:r>
            <a:r>
              <a:rPr lang="en-US" b="1" baseline="30000" dirty="0"/>
              <a:t>th</a:t>
            </a:r>
            <a:r>
              <a:rPr lang="en-US" b="1" dirty="0"/>
              <a:t> Year Students</a:t>
            </a:r>
          </a:p>
          <a:p>
            <a:r>
              <a:rPr lang="en-US" dirty="0"/>
              <a:t>Title: Borewell Rescue Device – Application No. 202541008847</a:t>
            </a:r>
          </a:p>
        </p:txBody>
      </p:sp>
    </p:spTree>
    <p:extLst>
      <p:ext uri="{BB962C8B-B14F-4D97-AF65-F5344CB8AC3E}">
        <p14:creationId xmlns:p14="http://schemas.microsoft.com/office/powerpoint/2010/main" val="1894990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
            <a:ext cx="11582400" cy="7315199"/>
            <a:chOff x="0" y="0"/>
            <a:chExt cx="12354560" cy="6857997"/>
          </a:xfrm>
        </p:grpSpPr>
        <p:pic>
          <p:nvPicPr>
            <p:cNvPr id="3" name="object 3"/>
            <p:cNvPicPr/>
            <p:nvPr/>
          </p:nvPicPr>
          <p:blipFill>
            <a:blip r:embed="rId2" cstate="print"/>
            <a:stretch>
              <a:fillRect/>
            </a:stretch>
          </p:blipFill>
          <p:spPr>
            <a:xfrm>
              <a:off x="0" y="0"/>
              <a:ext cx="12354560" cy="6857997"/>
            </a:xfrm>
            <a:prstGeom prst="rect">
              <a:avLst/>
            </a:prstGeom>
          </p:spPr>
        </p:pic>
        <p:pic>
          <p:nvPicPr>
            <p:cNvPr id="4" name="object 4"/>
            <p:cNvPicPr/>
            <p:nvPr/>
          </p:nvPicPr>
          <p:blipFill>
            <a:blip r:embed="rId3" cstate="print"/>
            <a:stretch>
              <a:fillRect/>
            </a:stretch>
          </p:blipFill>
          <p:spPr>
            <a:xfrm>
              <a:off x="10346436" y="0"/>
              <a:ext cx="1845564" cy="1591055"/>
            </a:xfrm>
            <a:prstGeom prst="rect">
              <a:avLst/>
            </a:prstGeom>
          </p:spPr>
        </p:pic>
      </p:grpSp>
      <p:sp>
        <p:nvSpPr>
          <p:cNvPr id="5" name="object 5"/>
          <p:cNvSpPr txBox="1">
            <a:spLocks noGrp="1"/>
          </p:cNvSpPr>
          <p:nvPr>
            <p:ph type="title"/>
          </p:nvPr>
        </p:nvSpPr>
        <p:spPr>
          <a:xfrm>
            <a:off x="5452825" y="3991740"/>
            <a:ext cx="5067895" cy="1050768"/>
          </a:xfrm>
          <a:prstGeom prst="rect">
            <a:avLst/>
          </a:prstGeom>
        </p:spPr>
        <p:txBody>
          <a:bodyPr vert="horz" wrap="square" lIns="0" tIns="11906" rIns="0" bIns="0" rtlCol="0" anchor="ctr">
            <a:spAutoFit/>
          </a:bodyPr>
          <a:lstStyle/>
          <a:p>
            <a:pPr marL="11906">
              <a:spcBef>
                <a:spcPts val="94"/>
              </a:spcBef>
            </a:pPr>
            <a:r>
              <a:rPr sz="6750" spc="-703">
                <a:solidFill>
                  <a:srgbClr val="FFFFFF"/>
                </a:solidFill>
                <a:latin typeface="Arial Black"/>
                <a:cs typeface="Arial Black"/>
              </a:rPr>
              <a:t>THANK</a:t>
            </a:r>
            <a:r>
              <a:rPr sz="6750" spc="-815">
                <a:solidFill>
                  <a:srgbClr val="FFFFFF"/>
                </a:solidFill>
                <a:latin typeface="Arial Black"/>
                <a:cs typeface="Arial Black"/>
              </a:rPr>
              <a:t> </a:t>
            </a:r>
            <a:r>
              <a:rPr sz="6750" spc="-684">
                <a:solidFill>
                  <a:srgbClr val="FFFFFF"/>
                </a:solidFill>
                <a:latin typeface="Arial Black"/>
                <a:cs typeface="Arial Black"/>
              </a:rPr>
              <a:t>YOU</a:t>
            </a:r>
            <a:endParaRPr sz="6750">
              <a:latin typeface="Arial Black"/>
              <a:cs typeface="Arial Black"/>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1.XML" val="2967003940"/>
  <p:tag name="PPT/SLIDES/SLIDE21.XML" val="2511278058"/>
  <p:tag name="PPT/SLIDES/SLIDE22.XML" val="1947892943"/>
  <p:tag name="PPT/SLIDES/SLIDE23.XML" val="4199208205"/>
  <p:tag name="PPT/SLIDES/SLIDE24.XML" val="2952113735"/>
  <p:tag name="PPT/SLIDES/SLIDE25.XML" val="1884401963"/>
  <p:tag name="PPT/SLIDES/SLIDE26.XML" val="4269094716"/>
  <p:tag name="PPT/SLIDES/SLIDE27.XML" val="1679864648"/>
  <p:tag name="PPT/SLIDES/SLIDE28.XML" val="912156208"/>
  <p:tag name="PPT/SLIDES/SLIDE29.XML" val="3726187092"/>
  <p:tag name="PPT/SLIDES/SLIDE30.XML" val="1054293573"/>
  <p:tag name="PPT/SLIDES/SLIDE31.XML" val="1535815930"/>
  <p:tag name="PPT/SLIDES/SLIDE32.XML" val="458827508"/>
  <p:tag name="PPT/SLIDES/SLIDE33.XML" val="1308264577"/>
  <p:tag name="PPT/SLIDES/SLIDE34.XML" val="2975954955"/>
  <p:tag name="PPT/SLIDES/SLIDE35.XML" val="870644288"/>
  <p:tag name="PPT/SLIDES/SLIDE41.XML" val="196725764"/>
  <p:tag name="PPT/SLIDES/SLIDE42.XML" val="3744014600"/>
  <p:tag name="PPT/SLIDES/SLIDE43.XML" val="1024044999"/>
  <p:tag name="PPT/SLIDES/SLIDE44.XML" val="1790634214"/>
  <p:tag name="PPT/SLIDELAYOUTS/SLIDELAYOUT16.XML" val="3369952621"/>
  <p:tag name="PPT/SLIDELAYOUTS/SLIDELAYOUT14.XML" val="1039913880"/>
  <p:tag name="PPT/SLIDELAYOUTS/SLIDELAYOUT13.XML" val="3312913160"/>
  <p:tag name="PPT/SLIDELAYOUTS/SLIDELAYOUT12.XML" val="689599552"/>
  <p:tag name="PPT/SLIDELAYOUTS/SLIDELAYOUT11.XML" val="3400776772"/>
  <p:tag name="PPT/SLIDELAYOUTS/SLIDELAYOUT10.XML" val="2136906926"/>
  <p:tag name="PPT/SLIDELAYOUTS/SLIDELAYOUT9.XML" val="3808550198"/>
  <p:tag name="PPT/SLIDELAYOUTS/SLIDELAYOUT8.XML" val="3565673160"/>
  <p:tag name="PPT/SLIDELAYOUTS/SLIDELAYOUT7.XML" val="28589088"/>
  <p:tag name="PPT/SLIDELAYOUTS/SLIDELAYOUT6.XML" val="2534441315"/>
  <p:tag name="PPT/SLIDELAYOUTS/SLIDELAYOUT5.XML" val="2333652531"/>
  <p:tag name="PPT/SLIDELAYOUTS/SLIDELAYOUT4.XML" val="2911055771"/>
  <p:tag name="PPT/SLIDELAYOUTS/SLIDELAYOUT3.XML" val="1557209157"/>
  <p:tag name="PPT/SLIDELAYOUTS/SLIDELAYOUT2.XML" val="279479512"/>
  <p:tag name="PPT/SLIDELAYOUTS/SLIDELAYOUT1.XML" val="3047179616"/>
  <p:tag name="PPT/SLIDEMASTERS/SLIDEMASTER2.XML" val="2364674848"/>
  <p:tag name="PPT/SLIDEMASTERS/SLIDEMASTER1.XML" val="1048507628"/>
  <p:tag name="PPT/SLIDELAYOUTS/SLIDELAYOUT15.XML" val="412316484"/>
  <p:tag name="PPT/MEDIA/IMAGE144.JPG" val="3021492600"/>
  <p:tag name="PPT/MEDIA/IMAGE46.PNG" val="3513359115"/>
  <p:tag name="PPT/MEDIA/IMAGE47.PNG" val="347036623"/>
  <p:tag name="PPT/MEDIA/IMAGE48.PNG" val="3361573869"/>
  <p:tag name="PPT/MEDIA/IMAGE49.PNG" val="1785359222"/>
  <p:tag name="PPT/MEDIA/IMAGE50.PNG" val="3874318040"/>
  <p:tag name="PPT/THEME/THEME3.XML" val="2979960155"/>
  <p:tag name="PPT/MEDIA/IMAGE51.PNG" val="124245433"/>
  <p:tag name="PPT/MEDIA/IMAGE80.JPG" val="47773109"/>
  <p:tag name="PPT/MEDIA/IMAGE43.PNG" val="1672893460"/>
  <p:tag name="PPT/MEDIA/IMAGE42.PNG" val="858686411"/>
  <p:tag name="PPT/MEDIA/IMAGE87.JPEG" val="352503137"/>
  <p:tag name="PPT/MEDIA/IMAGE88.PNG" val="2459820185"/>
  <p:tag name="PPT/MEDIA/IMAGE89.PNG" val="770238468"/>
  <p:tag name="PPT/MEDIA/IMAGE90.PNG" val="532992236"/>
  <p:tag name="PPT/MEDIA/IMAGE91.PNG" val="3568462493"/>
  <p:tag name="PPT/MEDIA/IMAGE92.PNG" val="2554077139"/>
  <p:tag name="PPT/MEDIA/IMAGE93.PNG" val="3191118864"/>
  <p:tag name="PPT/MEDIA/IMAGE94.PNG" val="3078652140"/>
  <p:tag name="PPT/MEDIA/IMAGE95.PNG" val="1951284968"/>
  <p:tag name="PPT/MEDIA/IMAGE96.PNG" val="2596652774"/>
  <p:tag name="PPT/MEDIA/IMAGE97.PNG" val="4004878690"/>
  <p:tag name="PPT/MEDIA/IMAGE98.PNG" val="639991339"/>
  <p:tag name="PPT/MEDIA/IMAGE99.PNG" val="2482197034"/>
  <p:tag name="PPT/MEDIA/IMAGE100.PNG" val="3335176674"/>
  <p:tag name="PPT/MEDIA/IMAGE101.PNG" val="283996320"/>
  <p:tag name="PPT/MEDIA/IMAGE102.PNG" val="2328073722"/>
  <p:tag name="PPT/MEDIA/IMAGE103.PNG" val="1250544157"/>
  <p:tag name="PPT/MEDIA/IMAGE104.PNG" val="2916459798"/>
  <p:tag name="PPT/MEDIA/IMAGE105.PNG" val="2186477490"/>
  <p:tag name="PPT/MEDIA/IMAGE106.JPEG" val="1142602885"/>
  <p:tag name="PPT/MEDIA/IMAGE107.PNG" val="405316937"/>
  <p:tag name="PPT/MEDIA/IMAGE108.PNG" val="2498230261"/>
  <p:tag name="PPT/MEDIA/IMAGE109.PNG" val="1045848320"/>
  <p:tag name="PPT/MEDIA/IMAGE110.PNG" val="3317368357"/>
  <p:tag name="PPT/MEDIA/IMAGE111.PNG" val="3833997074"/>
  <p:tag name="PPT/MEDIA/IMAGE112.JPEG" val="1041171075"/>
  <p:tag name="PPT/MEDIA/IMAGE113.PNG" val="1333717981"/>
  <p:tag name="PPT/MEDIA/IMAGE114.JPEG" val="1806258109"/>
  <p:tag name="PPT/MEDIA/IMAGE115.JPEG" val="2994488811"/>
  <p:tag name="PPT/MEDIA/IMAGE86.JPEG" val="3487266167"/>
  <p:tag name="PPT/MEDIA/IMAGE116.PNG" val="649398885"/>
  <p:tag name="PPT/MEDIA/IMAGE117.JPG" val="1026966488"/>
  <p:tag name="PPT/MEDIA/IMAGE118.PNG" val="2820072348"/>
  <p:tag name="PPT/MEDIA/IMAGE126.PNG" val="3281432674"/>
  <p:tag name="PPT/MEDIA/IMAGE127.PNG" val="2844592581"/>
  <p:tag name="PPT/MEDIA/IMAGE128.PNG" val="4003748757"/>
  <p:tag name="PPT/MEDIA/IMAGE129.PNG" val="2654438929"/>
  <p:tag name="PPT/MEDIA/IMAGE130.PNG" val="505657194"/>
  <p:tag name="PPT/MEDIA/IMAGE131.PNG" val="3202751268"/>
  <p:tag name="PPT/MEDIA/IMAGE132.PNG" val="689566723"/>
  <p:tag name="PPT/MEDIA/IMAGE133.PNG" val="467530283"/>
  <p:tag name="PPT/MEDIA/IMAGE134.JPG" val="4018264871"/>
  <p:tag name="PPT/MEDIA/IMAGE135.JPG" val="2489959436"/>
  <p:tag name="PPT/MEDIA/IMAGE136.JPG" val="3072996022"/>
  <p:tag name="PPT/MEDIA/IMAGE137.JPG" val="3211014438"/>
  <p:tag name="PPT/MEDIA/IMAGE138.JPG" val="3625325128"/>
  <p:tag name="PPT/MEDIA/IMAGE139.JPG" val="3730919504"/>
  <p:tag name="PPT/MEDIA/IMAGE140.JPG" val="1899347023"/>
  <p:tag name="PPT/MEDIA/IMAGE141.JPG" val="1520821517"/>
  <p:tag name="PPT/MEDIA/IMAGE142.JPG" val="2796243671"/>
  <p:tag name="PPT/MEDIA/IMAGE143.JPG" val="3289444993"/>
  <p:tag name="PPT/MEDIA/IMAGE145.JPG" val="3890212840"/>
  <p:tag name="PPT/MEDIA/IMAGE146.JPG" val="1609113026"/>
  <p:tag name="PPT/MEDIA/IMAGE147.JPG" val="1225284886"/>
  <p:tag name="PPT/MEDIA/IMAGE44.PNG" val="2161689826"/>
  <p:tag name="PPT/MEDIA/IMAGE149.JPG" val="4081166716"/>
  <p:tag name="PPT/MEDIA/IMAGE150.JPG" val="1219437490"/>
  <p:tag name="PPT/MEDIA/IMAGE151.JPG" val="3495317235"/>
  <p:tag name="PPT/MEDIA/IMAGE152.JPG" val="2115158302"/>
  <p:tag name="PPT/MEDIA/IMAGE153.PNG" val="744519845"/>
  <p:tag name="PPT/MEDIA/IMAGE154.PNG" val="4147562355"/>
  <p:tag name="PPT/MEDIA/IMAGE155.PNG" val="4210471413"/>
  <p:tag name="PPT/MEDIA/IMAGE156.PNG" val="55201441"/>
  <p:tag name="PPT/MEDIA/IMAGE157.PNG" val="1602350162"/>
  <p:tag name="PPT/MEDIA/IMAGE158.JPG" val="1375170834"/>
  <p:tag name="PPT/MEDIA/IMAGE159.JPG" val="3747349752"/>
  <p:tag name="PPT/MEDIA/IMAGE160.JPG" val="1476961166"/>
  <p:tag name="PPT/MEDIA/IMAGE161.JPG" val="63478098"/>
  <p:tag name="PPT/MEDIA/IMAGE162.JPG" val="3159063511"/>
  <p:tag name="PPT/MEDIA/IMAGE163.JPG" val="1583172404"/>
  <p:tag name="PPT/MEDIA/IMAGE164.JPG" val="3501271988"/>
  <p:tag name="PPT/MEDIA/IMAGE165.JPG" val="793949354"/>
  <p:tag name="PPT/MEDIA/IMAGE166.JPG" val="2680796966"/>
  <p:tag name="PPT/MEDIA/IMAGE167.JPG" val="3411338930"/>
  <p:tag name="PPT/MEDIA/IMAGE168.JPG" val="3871252358"/>
  <p:tag name="PPT/MEDIA/IMAGE169.JPG" val="24779678"/>
  <p:tag name="PPT/MEDIA/IMAGE170.JPG" val="658585658"/>
  <p:tag name="PPT/MEDIA/IMAGE171.JPG" val="2121105751"/>
  <p:tag name="PPT/MEDIA/IMAGE172.JPG" val="2256185137"/>
  <p:tag name="PPT/MEDIA/IMAGE173.JPG" val="66962957"/>
  <p:tag name="PPT/MEDIA/IMAGE174.JPG" val="4015300087"/>
  <p:tag name="PPT/MEDIA/IMAGE175.JPG" val="496061765"/>
  <p:tag name="PPT/MEDIA/IMAGE176.JPG" val="2712147788"/>
  <p:tag name="PPT/MEDIA/IMAGE177.JPG" val="2827697521"/>
  <p:tag name="PPT/MEDIA/IMAGE178.JPG" val="3318222835"/>
  <p:tag name="PPT/MEDIA/IMAGE179.JPG" val="387981899"/>
  <p:tag name="PPT/MEDIA/IMAGE180.PNG" val="453718579"/>
  <p:tag name="PPT/MEDIA/IMAGE181.JPG" val="2801069165"/>
  <p:tag name="PPT/MEDIA/IMAGE182.JPG" val="1899447396"/>
  <p:tag name="PPT/MEDIA/IMAGE183.PNG" val="2721726191"/>
  <p:tag name="PPT/NOTESMASTERS/NOTESMASTER1.XML" val="1255983729"/>
  <p:tag name="PPT/MEDIA/IMAGE41.PNG" val="2188643213"/>
  <p:tag name="PPT/MEDIA/IMAGE40.PNG" val="2866836019"/>
  <p:tag name="PPT/MEDIA/IMAGE39.PNG" val="3990173797"/>
  <p:tag name="PPT/MEDIA/IMAGE38.PNG" val="1034795741"/>
  <p:tag name="PPT/MEDIA/IMAGE37.PNG" val="653756609"/>
  <p:tag name="PPT/MEDIA/IMAGE36.PNG" val="390234035"/>
  <p:tag name="PPT/MEDIA/IMAGE35.PNG" val="3790853266"/>
  <p:tag name="PPT/MEDIA/IMAGE34.PNG" val="2899945033"/>
  <p:tag name="PPT/MEDIA/IMAGE33.PNG" val="3262065715"/>
  <p:tag name="PPT/MEDIA/IMAGE32.PNG" val="1952396426"/>
  <p:tag name="PPT/MEDIA/IMAGE31.PNG" val="4005693989"/>
  <p:tag name="PPT/MEDIA/IMAGE30.PNG" val="4248462848"/>
  <p:tag name="PPT/MEDIA/IMAGE29.PNG" val="3851608058"/>
  <p:tag name="PPT/MEDIA/IMAGE28.PNG" val="2747963191"/>
  <p:tag name="PPT/MEDIA/IMAGE27.PNG" val="1746289390"/>
  <p:tag name="PPT/MEDIA/IMAGE26.PNG" val="1731208475"/>
  <p:tag name="PPT/MEDIA/IMAGE25.PNG" val="3571257634"/>
  <p:tag name="PPT/MEDIA/IMAGE24.PNG" val="3421822373"/>
  <p:tag name="PPT/MEDIA/IMAGE23.PNG" val="2282978217"/>
  <p:tag name="PPT/MEDIA/IMAGE22.PNG" val="2869013068"/>
  <p:tag name="PPT/MEDIA/IMAGE21.PNG" val="1134315403"/>
  <p:tag name="PPT/MEDIA/IMAGE20.JPG" val="2305660227"/>
  <p:tag name="PPT/MEDIA/IMAGE19.PNG" val="151325252"/>
  <p:tag name="PPT/MEDIA/IMAGE18.PNG" val="3899626060"/>
  <p:tag name="PPT/MEDIA/IMAGE17.PNG" val="3206390557"/>
  <p:tag name="PPT/MEDIA/IMAGE16.PNG" val="2285431298"/>
  <p:tag name="PPT/MEDIA/IMAGE15.PNG" val="1819628862"/>
  <p:tag name="PPT/MEDIA/IMAGE14.PNG" val="3910634016"/>
  <p:tag name="PPT/MEDIA/IMAGE13.PNG" val="3873211727"/>
  <p:tag name="PPT/MEDIA/IMAGE12.PNG" val="66764754"/>
  <p:tag name="PPT/MEDIA/IMAGE11.PNG" val="3858463618"/>
  <p:tag name="PPT/MEDIA/IMAGE10.PNG" val="1617916060"/>
  <p:tag name="PPT/MEDIA/IMAGE9.PNG" val="3979067087"/>
  <p:tag name="PPT/MEDIA/IMAGE8.PNG" val="4206634924"/>
  <p:tag name="PPT/MEDIA/IMAGE7.PNG" val="1718497777"/>
  <p:tag name="PPT/MEDIA/IMAGE6.PNG" val="3813082635"/>
  <p:tag name="PPT/MEDIA/IMAGE5.PNG" val="3193925013"/>
  <p:tag name="PPT/MEDIA/IMAGE4.PNG" val="1447587264"/>
  <p:tag name="PPT/MEDIA/IMAGE3.PNG" val="1007729450"/>
  <p:tag name="PPT/MEDIA/IMAGE2.PNG" val="166737238"/>
  <p:tag name="PPT/MEDIA/IMAGE1.JPG" val="3851046361"/>
  <p:tag name="PPT/THEME/THEME2.XML" val="424463739"/>
  <p:tag name="PPT/THEME/THEME1.XML" val="956944377"/>
  <p:tag name="PPT/MEDIA/IMAGE45.PNG" val="3141951352"/>
  <p:tag name="PPT/MEDIA/IMAGE148.JPG" val="145260461"/>
  <p:tag name="PPT/MEDIA/MODEL3D1.GLB" val="19961971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3469</TotalTime>
  <Words>349</Words>
  <Application>Microsoft Office PowerPoint</Application>
  <PresentationFormat>Custom</PresentationFormat>
  <Paragraphs>27</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Arial Black</vt:lpstr>
      <vt:lpstr>Calibri</vt:lpstr>
      <vt:lpstr>Montserrat Bold</vt:lpstr>
      <vt:lpstr>Poppins</vt:lpstr>
      <vt:lpstr>Poppins Bold</vt:lpstr>
      <vt:lpstr>Times New Roman</vt:lpstr>
      <vt:lpstr>Office Theme</vt:lpstr>
      <vt:lpstr>PowerPoint Presentation</vt:lpstr>
      <vt:lpstr>Research Outcomes of B. Tech 3rd and 4th Year Students</vt:lpstr>
      <vt:lpstr>Research Article Published – B. Tech 4th year students</vt:lpstr>
      <vt:lpstr>Research Article with B.Tech 4th year and 3rd year year student “Adaptive Intelligence in Warehouse Robotics: Efficient Pick-and-Place Robot for Dynamic Environments” has been officially published in the Journal of Electrical Systems (Indexed in SCOPUS | Impact Factor: 0.5)!</vt:lpstr>
      <vt:lpstr>Conference Paper Published – B. Tech 4th year Students B. Prajwal Pathri, V. S. H. Borra, K. V. Ganduri, J. M. C. K. Reddy, M. R. Kantipudi and M. R. Jupalle, "Smart Hostel Management Through the IoT: Reducing Energy Consumption, Securing Access, and Preventing Theft," 2024 3rd International Conference on Automation, Computing and Renewable Systems (ICACRS), Pudukkottai, India, 2024, pp. 483-489, doi: 10.1109/ICACRS62842.2024.10841498.</vt:lpstr>
      <vt:lpstr>Conference Paper Published – B. Tech 4th year Students - H. V. Upadrasta, N. R. Porla, M. K. Reddy and P. Kumar, "Deep Plant: Detecting Plant Diseases and Recommending Remedies with Deep Learning," 2024 International Conference on Artificial Intelligence and Emerging Technology (Global AI Summit), Greater Noida, India, 2024, pp. 1071-1076</vt:lpstr>
      <vt:lpstr>Patent Published – 3rd and 4th Year B. Tech students. Title: Enhanced Fire Fighting Drone with Thermal Imaging and First Aid Deployment – Application No. 202541019069</vt:lpstr>
      <vt:lpstr>B. Tech 3rd Year Students Design Registration: Sun-tracking solar panel system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Dr. S Bhanu Prakash</cp:lastModifiedBy>
  <cp:revision>31</cp:revision>
  <dcterms:modified xsi:type="dcterms:W3CDTF">2025-04-11T09:37:55Z</dcterms:modified>
</cp:coreProperties>
</file>